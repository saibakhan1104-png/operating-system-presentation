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  <p:embeddedFont>
      <p:font typeface="Foda Display" panose="020B0604020202020204" charset="-78"/>
      <p:regular r:id="rId19"/>
    </p:embeddedFont>
    <p:embeddedFont>
      <p:font typeface="Poppins Semi-Bold" panose="020B0604020202020204" charset="0"/>
      <p:regular r:id="rId20"/>
    </p:embeddedFont>
    <p:embeddedFont>
      <p:font typeface="Times New Roman" panose="02020603050405020304" pitchFamily="18" charset="0"/>
      <p:regular r:id="rId21"/>
    </p:embeddedFont>
    <p:embeddedFont>
      <p:font typeface="Times New Roman MT" panose="020B0604020202020204" charset="0"/>
      <p:regular r:id="rId22"/>
    </p:embeddedFont>
    <p:embeddedFont>
      <p:font typeface="Times New Roman M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40602" y="176004"/>
            <a:ext cx="1705392" cy="1705392"/>
          </a:xfrm>
          <a:custGeom>
            <a:avLst/>
            <a:gdLst/>
            <a:ahLst/>
            <a:cxnLst/>
            <a:rect l="l" t="t" r="r" b="b"/>
            <a:pathLst>
              <a:path w="1705392" h="1705392">
                <a:moveTo>
                  <a:pt x="0" y="0"/>
                </a:moveTo>
                <a:lnTo>
                  <a:pt x="1705391" y="0"/>
                </a:lnTo>
                <a:lnTo>
                  <a:pt x="1705391" y="1705392"/>
                </a:lnTo>
                <a:lnTo>
                  <a:pt x="0" y="1705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96684" y="5143500"/>
            <a:ext cx="7064445" cy="4103823"/>
            <a:chOff x="0" y="0"/>
            <a:chExt cx="5261689" cy="30565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61689" cy="2954980"/>
            </a:xfrm>
            <a:custGeom>
              <a:avLst/>
              <a:gdLst/>
              <a:ahLst/>
              <a:cxnLst/>
              <a:rect l="l" t="t" r="r" b="b"/>
              <a:pathLst>
                <a:path w="5261689" h="2954980">
                  <a:moveTo>
                    <a:pt x="0" y="0"/>
                  </a:moveTo>
                  <a:lnTo>
                    <a:pt x="5261689" y="0"/>
                  </a:lnTo>
                  <a:lnTo>
                    <a:pt x="5261689" y="2954980"/>
                  </a:lnTo>
                  <a:lnTo>
                    <a:pt x="0" y="2954980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261689" cy="3056580"/>
            </a:xfrm>
            <a:custGeom>
              <a:avLst/>
              <a:gdLst/>
              <a:ahLst/>
              <a:cxnLst/>
              <a:rect l="l" t="t" r="r" b="b"/>
              <a:pathLst>
                <a:path w="5261689" h="3056580">
                  <a:moveTo>
                    <a:pt x="0" y="2954980"/>
                  </a:moveTo>
                  <a:lnTo>
                    <a:pt x="5261689" y="2954980"/>
                  </a:lnTo>
                  <a:lnTo>
                    <a:pt x="5134689" y="3056580"/>
                  </a:lnTo>
                  <a:cubicBezTo>
                    <a:pt x="5134689" y="3056580"/>
                    <a:pt x="4144089" y="2980380"/>
                    <a:pt x="4042489" y="2980380"/>
                  </a:cubicBezTo>
                  <a:lnTo>
                    <a:pt x="1219200" y="2980380"/>
                  </a:lnTo>
                  <a:cubicBezTo>
                    <a:pt x="1117600" y="2980380"/>
                    <a:pt x="127000" y="3056580"/>
                    <a:pt x="127000" y="3056580"/>
                  </a:cubicBezTo>
                  <a:lnTo>
                    <a:pt x="0" y="2954980"/>
                  </a:lnTo>
                  <a:lnTo>
                    <a:pt x="0" y="0"/>
                  </a:lnTo>
                  <a:lnTo>
                    <a:pt x="5261689" y="0"/>
                  </a:lnTo>
                  <a:lnTo>
                    <a:pt x="5261689" y="2954980"/>
                  </a:lnTo>
                  <a:lnTo>
                    <a:pt x="12700" y="2954980"/>
                  </a:lnTo>
                  <a:lnTo>
                    <a:pt x="12700" y="2942280"/>
                  </a:lnTo>
                  <a:lnTo>
                    <a:pt x="5248989" y="2942280"/>
                  </a:lnTo>
                  <a:lnTo>
                    <a:pt x="5248989" y="12700"/>
                  </a:lnTo>
                  <a:lnTo>
                    <a:pt x="12700" y="12700"/>
                  </a:lnTo>
                  <a:lnTo>
                    <a:pt x="12700" y="295498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261689" cy="3021655"/>
            </a:xfrm>
            <a:prstGeom prst="rect">
              <a:avLst/>
            </a:prstGeom>
          </p:spPr>
          <p:txBody>
            <a:bodyPr lIns="363760" tIns="363760" rIns="363760" bIns="363760" rtlCol="0" anchor="t"/>
            <a:lstStyle/>
            <a:p>
              <a:pPr algn="l">
                <a:lnSpc>
                  <a:spcPts val="5048"/>
                </a:lnSpc>
              </a:pPr>
              <a:r>
                <a:rPr lang="en-US" sz="3606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Presented By:</a:t>
              </a:r>
            </a:p>
            <a:p>
              <a:pPr algn="l">
                <a:lnSpc>
                  <a:spcPts val="4348"/>
                </a:lnSpc>
              </a:pPr>
              <a:r>
                <a:rPr lang="en-US" sz="3106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Saiba Khan</a:t>
              </a:r>
            </a:p>
            <a:p>
              <a:pPr algn="l">
                <a:lnSpc>
                  <a:spcPts val="4348"/>
                </a:lnSpc>
              </a:pPr>
              <a:r>
                <a:rPr lang="en-US" sz="3106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ID: IT-24006</a:t>
              </a:r>
            </a:p>
            <a:p>
              <a:pPr algn="l">
                <a:lnSpc>
                  <a:spcPts val="4348"/>
                </a:lnSpc>
              </a:pPr>
              <a:r>
                <a:rPr lang="en-US" sz="3106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 of Information and Communication Technology,</a:t>
              </a:r>
            </a:p>
            <a:p>
              <a:pPr algn="l">
                <a:lnSpc>
                  <a:spcPts val="4348"/>
                </a:lnSpc>
              </a:pPr>
              <a:r>
                <a:rPr lang="en-US" sz="3106" b="1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MBSTU.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72909" y="2146078"/>
            <a:ext cx="12061011" cy="225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31"/>
              </a:lnSpc>
            </a:pPr>
            <a:r>
              <a:rPr lang="en-US" sz="4400" dirty="0">
                <a:solidFill>
                  <a:srgbClr val="2B232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Presentation Topic: BILL GATES</a:t>
            </a:r>
          </a:p>
          <a:p>
            <a:pPr algn="just">
              <a:lnSpc>
                <a:spcPts val="5691"/>
              </a:lnSpc>
            </a:pPr>
            <a:r>
              <a:rPr lang="en-US" sz="4000" dirty="0">
                <a:solidFill>
                  <a:srgbClr val="2B2322"/>
                </a:solidFill>
                <a:latin typeface="Archivo Black"/>
                <a:ea typeface="Archivo Black"/>
                <a:cs typeface="Archivo Black"/>
                <a:sym typeface="Archivo Black"/>
              </a:rPr>
              <a:t>Couse Title: Operating System</a:t>
            </a:r>
          </a:p>
          <a:p>
            <a:pPr algn="just">
              <a:lnSpc>
                <a:spcPts val="5691"/>
              </a:lnSpc>
            </a:pPr>
            <a:r>
              <a:rPr lang="en-US" sz="4000" dirty="0">
                <a:solidFill>
                  <a:srgbClr val="2B2322"/>
                </a:solidFill>
                <a:latin typeface="Archivo Black"/>
                <a:ea typeface="Archivo Black"/>
                <a:cs typeface="Archivo Black"/>
                <a:sym typeface="Archivo Black"/>
              </a:rPr>
              <a:t>Course Code: 2201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45993" y="5143500"/>
            <a:ext cx="7634326" cy="4158125"/>
            <a:chOff x="0" y="0"/>
            <a:chExt cx="5635698" cy="30695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35697" cy="2967948"/>
            </a:xfrm>
            <a:custGeom>
              <a:avLst/>
              <a:gdLst/>
              <a:ahLst/>
              <a:cxnLst/>
              <a:rect l="l" t="t" r="r" b="b"/>
              <a:pathLst>
                <a:path w="5635697" h="2967948">
                  <a:moveTo>
                    <a:pt x="0" y="0"/>
                  </a:moveTo>
                  <a:lnTo>
                    <a:pt x="5635697" y="0"/>
                  </a:lnTo>
                  <a:lnTo>
                    <a:pt x="5635697" y="2967948"/>
                  </a:lnTo>
                  <a:lnTo>
                    <a:pt x="0" y="2967948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5635697" cy="3069548"/>
            </a:xfrm>
            <a:custGeom>
              <a:avLst/>
              <a:gdLst/>
              <a:ahLst/>
              <a:cxnLst/>
              <a:rect l="l" t="t" r="r" b="b"/>
              <a:pathLst>
                <a:path w="5635697" h="3069548">
                  <a:moveTo>
                    <a:pt x="0" y="2967948"/>
                  </a:moveTo>
                  <a:lnTo>
                    <a:pt x="5635697" y="2967948"/>
                  </a:lnTo>
                  <a:lnTo>
                    <a:pt x="5508697" y="3069548"/>
                  </a:lnTo>
                  <a:cubicBezTo>
                    <a:pt x="5508697" y="3069548"/>
                    <a:pt x="4518097" y="2993348"/>
                    <a:pt x="4416497" y="2993348"/>
                  </a:cubicBezTo>
                  <a:lnTo>
                    <a:pt x="1219200" y="2993348"/>
                  </a:lnTo>
                  <a:cubicBezTo>
                    <a:pt x="1117600" y="2993348"/>
                    <a:pt x="127000" y="3069548"/>
                    <a:pt x="127000" y="3069548"/>
                  </a:cubicBezTo>
                  <a:lnTo>
                    <a:pt x="0" y="2967948"/>
                  </a:lnTo>
                  <a:lnTo>
                    <a:pt x="0" y="0"/>
                  </a:lnTo>
                  <a:lnTo>
                    <a:pt x="5635697" y="0"/>
                  </a:lnTo>
                  <a:lnTo>
                    <a:pt x="5635697" y="2967948"/>
                  </a:lnTo>
                  <a:lnTo>
                    <a:pt x="12700" y="2967948"/>
                  </a:lnTo>
                  <a:lnTo>
                    <a:pt x="12700" y="2955248"/>
                  </a:lnTo>
                  <a:lnTo>
                    <a:pt x="5622997" y="2955248"/>
                  </a:lnTo>
                  <a:lnTo>
                    <a:pt x="5622997" y="12700"/>
                  </a:lnTo>
                  <a:lnTo>
                    <a:pt x="12700" y="12700"/>
                  </a:lnTo>
                  <a:lnTo>
                    <a:pt x="12700" y="2967948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635698" cy="3034623"/>
            </a:xfrm>
            <a:prstGeom prst="rect">
              <a:avLst/>
            </a:prstGeom>
          </p:spPr>
          <p:txBody>
            <a:bodyPr lIns="367016" tIns="367016" rIns="367016" bIns="367016" rtlCol="0" anchor="t"/>
            <a:lstStyle/>
            <a:p>
              <a:pPr algn="l">
                <a:lnSpc>
                  <a:spcPts val="5087"/>
                </a:lnSpc>
              </a:pPr>
              <a:r>
                <a:rPr lang="en-US" sz="3634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Supervised By:</a:t>
              </a:r>
            </a:p>
            <a:p>
              <a:pPr algn="l">
                <a:lnSpc>
                  <a:spcPts val="4387"/>
                </a:lnSpc>
              </a:pPr>
              <a:r>
                <a:rPr lang="en-US" sz="3134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Dr.Nazrul Islam,</a:t>
              </a:r>
            </a:p>
            <a:p>
              <a:pPr algn="l">
                <a:lnSpc>
                  <a:spcPts val="4387"/>
                </a:lnSpc>
              </a:pPr>
              <a:r>
                <a:rPr lang="en-US" sz="3134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Associate Professor,</a:t>
              </a:r>
            </a:p>
            <a:p>
              <a:pPr algn="l">
                <a:lnSpc>
                  <a:spcPts val="4387"/>
                </a:lnSpc>
              </a:pPr>
              <a:r>
                <a:rPr lang="en-US" sz="3134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 of Information and Communication Technology,</a:t>
              </a:r>
            </a:p>
            <a:p>
              <a:pPr algn="l">
                <a:lnSpc>
                  <a:spcPts val="4387"/>
                </a:lnSpc>
              </a:pPr>
              <a:r>
                <a:rPr lang="en-US" sz="3134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MBSTU.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75008" y="504879"/>
            <a:ext cx="10169192" cy="1247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064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Who is Bill Gates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5008" y="1807146"/>
            <a:ext cx="16891003" cy="7146353"/>
            <a:chOff x="0" y="0"/>
            <a:chExt cx="26748430" cy="12746323"/>
          </a:xfrm>
        </p:grpSpPr>
        <p:sp>
          <p:nvSpPr>
            <p:cNvPr id="5" name="Freeform 5"/>
            <p:cNvSpPr/>
            <p:nvPr/>
          </p:nvSpPr>
          <p:spPr>
            <a:xfrm>
              <a:off x="6521" y="577288"/>
              <a:ext cx="26741909" cy="12169035"/>
            </a:xfrm>
            <a:custGeom>
              <a:avLst/>
              <a:gdLst/>
              <a:ahLst/>
              <a:cxnLst/>
              <a:rect l="l" t="t" r="r" b="b"/>
              <a:pathLst>
                <a:path w="26741909" h="11693346">
                  <a:moveTo>
                    <a:pt x="0" y="0"/>
                  </a:moveTo>
                  <a:lnTo>
                    <a:pt x="26741909" y="0"/>
                  </a:lnTo>
                  <a:lnTo>
                    <a:pt x="26741909" y="11693346"/>
                  </a:lnTo>
                  <a:lnTo>
                    <a:pt x="0" y="11693346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26741909" cy="11794946"/>
            </a:xfrm>
            <a:custGeom>
              <a:avLst/>
              <a:gdLst/>
              <a:ahLst/>
              <a:cxnLst/>
              <a:rect l="l" t="t" r="r" b="b"/>
              <a:pathLst>
                <a:path w="26741909" h="11794946">
                  <a:moveTo>
                    <a:pt x="0" y="11693346"/>
                  </a:moveTo>
                  <a:lnTo>
                    <a:pt x="26741909" y="11693346"/>
                  </a:lnTo>
                  <a:lnTo>
                    <a:pt x="26614909" y="11794946"/>
                  </a:lnTo>
                  <a:cubicBezTo>
                    <a:pt x="26614909" y="11794946"/>
                    <a:pt x="25624309" y="11718746"/>
                    <a:pt x="25522709" y="11718746"/>
                  </a:cubicBezTo>
                  <a:lnTo>
                    <a:pt x="1219200" y="11718746"/>
                  </a:lnTo>
                  <a:cubicBezTo>
                    <a:pt x="1117600" y="11718746"/>
                    <a:pt x="127000" y="11794946"/>
                    <a:pt x="127000" y="11794946"/>
                  </a:cubicBezTo>
                  <a:lnTo>
                    <a:pt x="0" y="11693346"/>
                  </a:lnTo>
                  <a:lnTo>
                    <a:pt x="0" y="0"/>
                  </a:lnTo>
                  <a:lnTo>
                    <a:pt x="26741909" y="0"/>
                  </a:lnTo>
                  <a:lnTo>
                    <a:pt x="26741909" y="11693346"/>
                  </a:lnTo>
                  <a:lnTo>
                    <a:pt x="12700" y="11693346"/>
                  </a:lnTo>
                  <a:lnTo>
                    <a:pt x="12700" y="11680646"/>
                  </a:lnTo>
                  <a:lnTo>
                    <a:pt x="26729209" y="11680646"/>
                  </a:lnTo>
                  <a:lnTo>
                    <a:pt x="26729209" y="12700"/>
                  </a:lnTo>
                  <a:lnTo>
                    <a:pt x="12700" y="12700"/>
                  </a:lnTo>
                  <a:lnTo>
                    <a:pt x="12700" y="11693346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664915"/>
              <a:ext cx="26741908" cy="12081408"/>
            </a:xfrm>
            <a:prstGeom prst="rect">
              <a:avLst/>
            </a:prstGeom>
          </p:spPr>
          <p:txBody>
            <a:bodyPr lIns="171088" tIns="171088" rIns="171088" bIns="171088" rtlCol="0" anchor="t"/>
            <a:lstStyle/>
            <a:p>
              <a:pPr algn="l">
                <a:lnSpc>
                  <a:spcPts val="3458"/>
                </a:lnSpc>
              </a:pPr>
              <a:endParaRPr dirty="0"/>
            </a:p>
            <a:p>
              <a:pPr marL="773419" lvl="1" indent="-386709" algn="l">
                <a:lnSpc>
                  <a:spcPts val="5015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Bill Gates, born on October 28, 1955, is a renowned American computer scientist, business magnate, software developer, and philanthropist, best known as the co-founder of Microsoft Corporation.</a:t>
              </a:r>
            </a:p>
            <a:p>
              <a:pPr marL="386710" lvl="1" algn="l">
                <a:lnSpc>
                  <a:spcPts val="5015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73419" lvl="1" indent="-386709" algn="l">
                <a:lnSpc>
                  <a:spcPts val="5015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 is one of the most influential people in the history of computing and played a major role in developing operating systems for personal computers</a:t>
              </a:r>
            </a:p>
            <a:p>
              <a:pPr algn="l">
                <a:lnSpc>
                  <a:spcPts val="5015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73419" lvl="1" indent="-386709" algn="l">
                <a:lnSpc>
                  <a:spcPts val="5015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From a young age, he showed interest in computers and programming. He later attended Harvard University but dropped out to start Microsoft with his childhood friend Paul Allen</a:t>
              </a:r>
              <a:r>
                <a:rPr lang="en-US" sz="3582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.</a:t>
              </a:r>
            </a:p>
            <a:p>
              <a:pPr algn="l">
                <a:lnSpc>
                  <a:spcPts val="2374"/>
                </a:lnSpc>
              </a:pPr>
              <a:endParaRPr lang="en-US" sz="358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475509" y="414738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0"/>
                </a:moveTo>
                <a:lnTo>
                  <a:pt x="0" y="0"/>
                </a:lnTo>
                <a:lnTo>
                  <a:pt x="0" y="4465845"/>
                </a:lnTo>
                <a:lnTo>
                  <a:pt x="2703866" y="4465845"/>
                </a:lnTo>
                <a:lnTo>
                  <a:pt x="27038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5130309" y="542903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4465845"/>
                </a:moveTo>
                <a:lnTo>
                  <a:pt x="2703866" y="4465845"/>
                </a:lnTo>
                <a:lnTo>
                  <a:pt x="2703866" y="0"/>
                </a:lnTo>
                <a:lnTo>
                  <a:pt x="0" y="0"/>
                </a:lnTo>
                <a:lnTo>
                  <a:pt x="0" y="44658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6901" y="470188"/>
            <a:ext cx="15236099" cy="1233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060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an Operating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46902" y="2259273"/>
            <a:ext cx="15994196" cy="7335346"/>
            <a:chOff x="0" y="-85725"/>
            <a:chExt cx="27669540" cy="126899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669540" cy="10176871"/>
            </a:xfrm>
            <a:custGeom>
              <a:avLst/>
              <a:gdLst/>
              <a:ahLst/>
              <a:cxnLst/>
              <a:rect l="l" t="t" r="r" b="b"/>
              <a:pathLst>
                <a:path w="27669539" h="12502631">
                  <a:moveTo>
                    <a:pt x="0" y="0"/>
                  </a:moveTo>
                  <a:lnTo>
                    <a:pt x="27669539" y="0"/>
                  </a:lnTo>
                  <a:lnTo>
                    <a:pt x="27669539" y="12502631"/>
                  </a:lnTo>
                  <a:lnTo>
                    <a:pt x="0" y="12502631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27669539" cy="12604231"/>
            </a:xfrm>
            <a:custGeom>
              <a:avLst/>
              <a:gdLst/>
              <a:ahLst/>
              <a:cxnLst/>
              <a:rect l="l" t="t" r="r" b="b"/>
              <a:pathLst>
                <a:path w="27669539" h="12604231">
                  <a:moveTo>
                    <a:pt x="0" y="12502631"/>
                  </a:moveTo>
                  <a:lnTo>
                    <a:pt x="27669539" y="12502631"/>
                  </a:lnTo>
                  <a:lnTo>
                    <a:pt x="27542539" y="12604231"/>
                  </a:lnTo>
                  <a:cubicBezTo>
                    <a:pt x="27542539" y="12604231"/>
                    <a:pt x="26551939" y="12528031"/>
                    <a:pt x="26450339" y="12528031"/>
                  </a:cubicBezTo>
                  <a:lnTo>
                    <a:pt x="1219200" y="12528031"/>
                  </a:lnTo>
                  <a:cubicBezTo>
                    <a:pt x="1117600" y="12528031"/>
                    <a:pt x="127000" y="12604231"/>
                    <a:pt x="127000" y="12604231"/>
                  </a:cubicBezTo>
                  <a:lnTo>
                    <a:pt x="0" y="12502631"/>
                  </a:lnTo>
                  <a:lnTo>
                    <a:pt x="0" y="0"/>
                  </a:lnTo>
                  <a:lnTo>
                    <a:pt x="27669539" y="0"/>
                  </a:lnTo>
                  <a:lnTo>
                    <a:pt x="27669539" y="12502631"/>
                  </a:lnTo>
                  <a:lnTo>
                    <a:pt x="12700" y="12502631"/>
                  </a:lnTo>
                  <a:lnTo>
                    <a:pt x="12700" y="12489931"/>
                  </a:lnTo>
                  <a:lnTo>
                    <a:pt x="27656839" y="12489931"/>
                  </a:lnTo>
                  <a:lnTo>
                    <a:pt x="27656839" y="12700"/>
                  </a:lnTo>
                  <a:lnTo>
                    <a:pt x="12700" y="12700"/>
                  </a:lnTo>
                  <a:lnTo>
                    <a:pt x="12700" y="12502631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7669538" cy="12588355"/>
            </a:xfrm>
            <a:prstGeom prst="rect">
              <a:avLst/>
            </a:prstGeom>
          </p:spPr>
          <p:txBody>
            <a:bodyPr lIns="156611" tIns="156611" rIns="156611" bIns="156611" rtlCol="0" anchor="t"/>
            <a:lstStyle/>
            <a:p>
              <a:pPr algn="l">
                <a:lnSpc>
                  <a:spcPts val="3166"/>
                </a:lnSpc>
              </a:pPr>
              <a:endParaRPr dirty="0"/>
            </a:p>
            <a:p>
              <a:pPr marL="731235" lvl="1" indent="-365618" algn="l">
                <a:lnSpc>
                  <a:spcPts val="4741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An Operating System (OS) is software that manages computer hardware and software.</a:t>
              </a:r>
            </a:p>
            <a:p>
              <a:pPr algn="l">
                <a:lnSpc>
                  <a:spcPts val="4741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31235" lvl="1" indent="-365618" algn="l">
                <a:lnSpc>
                  <a:spcPts val="4741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It acts as a bridge between the user and the computer hardware.</a:t>
              </a:r>
            </a:p>
            <a:p>
              <a:pPr algn="l">
                <a:lnSpc>
                  <a:spcPts val="4741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31235" lvl="1" indent="-365618" algn="l">
                <a:lnSpc>
                  <a:spcPts val="4741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Examples:</a:t>
              </a:r>
            </a:p>
            <a:p>
              <a:pPr marL="1422948" lvl="2" indent="-474316" algn="l">
                <a:lnSpc>
                  <a:spcPts val="4613"/>
                </a:lnSpc>
                <a:buFont typeface="Arial"/>
                <a:buChar char="⚬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Windows</a:t>
              </a:r>
            </a:p>
            <a:p>
              <a:pPr marL="1422948" lvl="2" indent="-474316" algn="l">
                <a:lnSpc>
                  <a:spcPts val="4613"/>
                </a:lnSpc>
                <a:buFont typeface="Arial"/>
                <a:buChar char="⚬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Linux</a:t>
              </a:r>
            </a:p>
            <a:p>
              <a:pPr marL="1422948" lvl="2" indent="-474316" algn="l">
                <a:lnSpc>
                  <a:spcPts val="4613"/>
                </a:lnSpc>
                <a:buFont typeface="Arial"/>
                <a:buChar char="⚬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macOS</a:t>
              </a:r>
            </a:p>
            <a:p>
              <a:pPr marL="1422948" lvl="2" indent="-474316" algn="l">
                <a:lnSpc>
                  <a:spcPts val="4613"/>
                </a:lnSpc>
                <a:buFont typeface="Arial"/>
                <a:buChar char="⚬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Android</a:t>
              </a:r>
            </a:p>
            <a:p>
              <a:pPr algn="l">
                <a:lnSpc>
                  <a:spcPts val="4741"/>
                </a:lnSpc>
              </a:pPr>
              <a:endParaRPr lang="en-US" sz="329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4741"/>
                </a:lnSpc>
              </a:pPr>
              <a:endParaRPr lang="en-US" sz="329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632091" y="5753032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4465845"/>
                </a:moveTo>
                <a:lnTo>
                  <a:pt x="0" y="4465845"/>
                </a:lnTo>
                <a:lnTo>
                  <a:pt x="0" y="0"/>
                </a:lnTo>
                <a:lnTo>
                  <a:pt x="2703866" y="0"/>
                </a:lnTo>
                <a:lnTo>
                  <a:pt x="2703866" y="44658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177332" flipH="1" flipV="1">
            <a:off x="15673326" y="7971170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1666248" y="2574260"/>
                </a:moveTo>
                <a:lnTo>
                  <a:pt x="0" y="2574260"/>
                </a:lnTo>
                <a:lnTo>
                  <a:pt x="0" y="0"/>
                </a:lnTo>
                <a:lnTo>
                  <a:pt x="1666248" y="0"/>
                </a:lnTo>
                <a:lnTo>
                  <a:pt x="1666248" y="25742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65303" y="49450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0"/>
                </a:moveTo>
                <a:lnTo>
                  <a:pt x="2703866" y="0"/>
                </a:lnTo>
                <a:lnTo>
                  <a:pt x="2703866" y="4465845"/>
                </a:lnTo>
                <a:lnTo>
                  <a:pt x="0" y="44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1888720"/>
            <a:ext cx="16089428" cy="7728624"/>
            <a:chOff x="0" y="0"/>
            <a:chExt cx="31630892" cy="151940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0891" cy="15092431"/>
            </a:xfrm>
            <a:custGeom>
              <a:avLst/>
              <a:gdLst/>
              <a:ahLst/>
              <a:cxnLst/>
              <a:rect l="l" t="t" r="r" b="b"/>
              <a:pathLst>
                <a:path w="31630891" h="15092431">
                  <a:moveTo>
                    <a:pt x="0" y="0"/>
                  </a:moveTo>
                  <a:lnTo>
                    <a:pt x="31630891" y="0"/>
                  </a:lnTo>
                  <a:lnTo>
                    <a:pt x="31630891" y="15092431"/>
                  </a:lnTo>
                  <a:lnTo>
                    <a:pt x="0" y="15092431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1630891" cy="15194031"/>
            </a:xfrm>
            <a:custGeom>
              <a:avLst/>
              <a:gdLst/>
              <a:ahLst/>
              <a:cxnLst/>
              <a:rect l="l" t="t" r="r" b="b"/>
              <a:pathLst>
                <a:path w="31630891" h="15194031">
                  <a:moveTo>
                    <a:pt x="0" y="15092431"/>
                  </a:moveTo>
                  <a:lnTo>
                    <a:pt x="31630891" y="15092431"/>
                  </a:lnTo>
                  <a:lnTo>
                    <a:pt x="31503891" y="15194031"/>
                  </a:lnTo>
                  <a:cubicBezTo>
                    <a:pt x="31503891" y="15194031"/>
                    <a:pt x="30513291" y="15117831"/>
                    <a:pt x="30411691" y="15117831"/>
                  </a:cubicBezTo>
                  <a:lnTo>
                    <a:pt x="1219200" y="15117831"/>
                  </a:lnTo>
                  <a:cubicBezTo>
                    <a:pt x="1117600" y="15117831"/>
                    <a:pt x="127000" y="15194031"/>
                    <a:pt x="127000" y="15194031"/>
                  </a:cubicBezTo>
                  <a:lnTo>
                    <a:pt x="0" y="15092431"/>
                  </a:lnTo>
                  <a:lnTo>
                    <a:pt x="0" y="0"/>
                  </a:lnTo>
                  <a:lnTo>
                    <a:pt x="31630891" y="0"/>
                  </a:lnTo>
                  <a:lnTo>
                    <a:pt x="31630891" y="15092431"/>
                  </a:lnTo>
                  <a:lnTo>
                    <a:pt x="12700" y="15092431"/>
                  </a:lnTo>
                  <a:lnTo>
                    <a:pt x="12700" y="15079731"/>
                  </a:lnTo>
                  <a:lnTo>
                    <a:pt x="31618191" y="15079731"/>
                  </a:lnTo>
                  <a:lnTo>
                    <a:pt x="31618191" y="12700"/>
                  </a:lnTo>
                  <a:lnTo>
                    <a:pt x="12700" y="12700"/>
                  </a:lnTo>
                  <a:lnTo>
                    <a:pt x="12700" y="15092431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31630892" cy="15168631"/>
            </a:xfrm>
            <a:prstGeom prst="rect">
              <a:avLst/>
            </a:prstGeom>
          </p:spPr>
          <p:txBody>
            <a:bodyPr lIns="137813" tIns="137813" rIns="137813" bIns="137813" rtlCol="0" anchor="t"/>
            <a:lstStyle/>
            <a:p>
              <a:pPr algn="l">
                <a:lnSpc>
                  <a:spcPts val="2646"/>
                </a:lnSpc>
              </a:pPr>
              <a:endParaRPr sz="2800" dirty="0"/>
            </a:p>
            <a:p>
              <a:pPr marL="777240" lvl="1" indent="-388620" algn="l">
                <a:lnSpc>
                  <a:spcPts val="5040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 1975, Bill Gates and Paul Allen founded Microsoft. Their goal was simple but powerful: 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          -to put a computer on every desk and in every home.</a:t>
              </a:r>
            </a:p>
            <a:p>
              <a:pPr algn="l">
                <a:lnSpc>
                  <a:spcPts val="5040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77240" lvl="1" indent="-388620" algn="l">
                <a:lnSpc>
                  <a:spcPts val="5040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At that time: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  -Computers were large and complex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  -No standard operating system for personal computers</a:t>
              </a:r>
            </a:p>
            <a:p>
              <a:pPr algn="l">
                <a:lnSpc>
                  <a:spcPts val="5040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marL="777240" lvl="1" indent="-388620" algn="l">
                <a:lnSpc>
                  <a:spcPts val="5040"/>
                </a:lnSpc>
                <a:buFont typeface="Arial"/>
                <a:buChar char="•"/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Microsoft focused on software, especially operating systems, which turned out to be a game-changing strategy.</a:t>
              </a:r>
            </a:p>
            <a:p>
              <a:pPr algn="l">
                <a:lnSpc>
                  <a:spcPts val="5070"/>
                </a:lnSpc>
              </a:pPr>
              <a:endParaRPr lang="en-US" sz="36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9393" y="351628"/>
            <a:ext cx="11071146" cy="122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059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Founding of Microsoft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475509" y="414738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0"/>
                </a:moveTo>
                <a:lnTo>
                  <a:pt x="0" y="0"/>
                </a:lnTo>
                <a:lnTo>
                  <a:pt x="0" y="4465845"/>
                </a:lnTo>
                <a:lnTo>
                  <a:pt x="2703866" y="4465845"/>
                </a:lnTo>
                <a:lnTo>
                  <a:pt x="27038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177332" flipH="1">
            <a:off x="608023" y="7899386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1666248" y="0"/>
                </a:moveTo>
                <a:lnTo>
                  <a:pt x="0" y="0"/>
                </a:lnTo>
                <a:lnTo>
                  <a:pt x="0" y="2574259"/>
                </a:lnTo>
                <a:lnTo>
                  <a:pt x="1666248" y="2574259"/>
                </a:lnTo>
                <a:lnTo>
                  <a:pt x="16662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1" y="2171700"/>
            <a:ext cx="15659100" cy="7373275"/>
            <a:chOff x="0" y="-57149"/>
            <a:chExt cx="42888483" cy="193167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88483" cy="19158037"/>
            </a:xfrm>
            <a:custGeom>
              <a:avLst/>
              <a:gdLst/>
              <a:ahLst/>
              <a:cxnLst/>
              <a:rect l="l" t="t" r="r" b="b"/>
              <a:pathLst>
                <a:path w="42888483" h="19158037">
                  <a:moveTo>
                    <a:pt x="0" y="0"/>
                  </a:moveTo>
                  <a:lnTo>
                    <a:pt x="42888483" y="0"/>
                  </a:lnTo>
                  <a:lnTo>
                    <a:pt x="42888483" y="19158037"/>
                  </a:lnTo>
                  <a:lnTo>
                    <a:pt x="0" y="19158037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2888483" cy="19259637"/>
            </a:xfrm>
            <a:custGeom>
              <a:avLst/>
              <a:gdLst/>
              <a:ahLst/>
              <a:cxnLst/>
              <a:rect l="l" t="t" r="r" b="b"/>
              <a:pathLst>
                <a:path w="42888483" h="19259637">
                  <a:moveTo>
                    <a:pt x="0" y="19158037"/>
                  </a:moveTo>
                  <a:lnTo>
                    <a:pt x="42888483" y="19158037"/>
                  </a:lnTo>
                  <a:lnTo>
                    <a:pt x="42761483" y="19259637"/>
                  </a:lnTo>
                  <a:cubicBezTo>
                    <a:pt x="42761483" y="19259637"/>
                    <a:pt x="41770883" y="19183437"/>
                    <a:pt x="41669283" y="19183437"/>
                  </a:cubicBezTo>
                  <a:lnTo>
                    <a:pt x="1219200" y="19183437"/>
                  </a:lnTo>
                  <a:cubicBezTo>
                    <a:pt x="1117600" y="19183437"/>
                    <a:pt x="127000" y="19259637"/>
                    <a:pt x="127000" y="19259637"/>
                  </a:cubicBezTo>
                  <a:lnTo>
                    <a:pt x="0" y="19158037"/>
                  </a:lnTo>
                  <a:lnTo>
                    <a:pt x="0" y="0"/>
                  </a:lnTo>
                  <a:lnTo>
                    <a:pt x="42888483" y="0"/>
                  </a:lnTo>
                  <a:lnTo>
                    <a:pt x="42888483" y="19158037"/>
                  </a:lnTo>
                  <a:lnTo>
                    <a:pt x="12700" y="19158037"/>
                  </a:lnTo>
                  <a:lnTo>
                    <a:pt x="12700" y="19145337"/>
                  </a:lnTo>
                  <a:lnTo>
                    <a:pt x="42875783" y="19145337"/>
                  </a:lnTo>
                  <a:lnTo>
                    <a:pt x="42875783" y="12700"/>
                  </a:lnTo>
                  <a:lnTo>
                    <a:pt x="12700" y="12700"/>
                  </a:lnTo>
                  <a:lnTo>
                    <a:pt x="12700" y="1915803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3" y="-57149"/>
              <a:ext cx="42521542" cy="19215186"/>
            </a:xfrm>
            <a:prstGeom prst="rect">
              <a:avLst/>
            </a:prstGeom>
          </p:spPr>
          <p:txBody>
            <a:bodyPr lIns="103416" tIns="103416" rIns="103416" bIns="103416" rtlCol="0" anchor="t"/>
            <a:lstStyle/>
            <a:p>
              <a:pPr algn="l">
                <a:lnSpc>
                  <a:spcPts val="2090"/>
                </a:lnSpc>
              </a:pPr>
              <a:endParaRPr dirty="0"/>
            </a:p>
            <a:p>
              <a:pPr algn="l">
                <a:lnSpc>
                  <a:spcPts val="4381"/>
                </a:lnSpc>
              </a:pPr>
              <a:r>
                <a:rPr lang="en-US" sz="3129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</a:t>
              </a:r>
            </a:p>
            <a:p>
              <a:pPr algn="l">
                <a:lnSpc>
                  <a:spcPts val="4381"/>
                </a:lnSpc>
              </a:pPr>
              <a:endParaRPr lang="en-US" sz="312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-MS-DOS (1981) was  Microsoft’s first major OS success.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 Single-user, single-tasking OS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-Command-line interface (CLI)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-File system: FAT (File Allocation Table)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-Direct hardware interaction (no abstraction layers like                                                   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   modern OS)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-MS-DOS became widely used when IBM selected Microsoft to provide                      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     the OS for IBM PCs.</a:t>
              </a:r>
            </a:p>
            <a:p>
              <a:pPr algn="l">
                <a:lnSpc>
                  <a:spcPts val="3275"/>
                </a:lnSpc>
              </a:pPr>
              <a:endParaRPr lang="en-US" sz="3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16343" y="455642"/>
            <a:ext cx="16630325" cy="1136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Contribution to Operating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2165" y="2542886"/>
            <a:ext cx="16630325" cy="81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MS-DOS: (Microsoft Disk Operating System)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475509" y="414738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0"/>
                </a:moveTo>
                <a:lnTo>
                  <a:pt x="0" y="0"/>
                </a:lnTo>
                <a:lnTo>
                  <a:pt x="0" y="4465845"/>
                </a:lnTo>
                <a:lnTo>
                  <a:pt x="2703866" y="4465845"/>
                </a:lnTo>
                <a:lnTo>
                  <a:pt x="27038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177332" flipH="1">
            <a:off x="608023" y="7899386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1666248" y="0"/>
                </a:moveTo>
                <a:lnTo>
                  <a:pt x="0" y="0"/>
                </a:lnTo>
                <a:lnTo>
                  <a:pt x="0" y="2574259"/>
                </a:lnTo>
                <a:lnTo>
                  <a:pt x="1666248" y="2574259"/>
                </a:lnTo>
                <a:lnTo>
                  <a:pt x="16662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1" y="2171700"/>
            <a:ext cx="15659100" cy="7373275"/>
            <a:chOff x="0" y="-57149"/>
            <a:chExt cx="42888483" cy="193167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888483" cy="19158037"/>
            </a:xfrm>
            <a:custGeom>
              <a:avLst/>
              <a:gdLst/>
              <a:ahLst/>
              <a:cxnLst/>
              <a:rect l="l" t="t" r="r" b="b"/>
              <a:pathLst>
                <a:path w="42888483" h="19158037">
                  <a:moveTo>
                    <a:pt x="0" y="0"/>
                  </a:moveTo>
                  <a:lnTo>
                    <a:pt x="42888483" y="0"/>
                  </a:lnTo>
                  <a:lnTo>
                    <a:pt x="42888483" y="19158037"/>
                  </a:lnTo>
                  <a:lnTo>
                    <a:pt x="0" y="19158037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2888483" cy="19259637"/>
            </a:xfrm>
            <a:custGeom>
              <a:avLst/>
              <a:gdLst/>
              <a:ahLst/>
              <a:cxnLst/>
              <a:rect l="l" t="t" r="r" b="b"/>
              <a:pathLst>
                <a:path w="42888483" h="19259637">
                  <a:moveTo>
                    <a:pt x="0" y="19158037"/>
                  </a:moveTo>
                  <a:lnTo>
                    <a:pt x="42888483" y="19158037"/>
                  </a:lnTo>
                  <a:lnTo>
                    <a:pt x="42761483" y="19259637"/>
                  </a:lnTo>
                  <a:cubicBezTo>
                    <a:pt x="42761483" y="19259637"/>
                    <a:pt x="41770883" y="19183437"/>
                    <a:pt x="41669283" y="19183437"/>
                  </a:cubicBezTo>
                  <a:lnTo>
                    <a:pt x="1219200" y="19183437"/>
                  </a:lnTo>
                  <a:cubicBezTo>
                    <a:pt x="1117600" y="19183437"/>
                    <a:pt x="127000" y="19259637"/>
                    <a:pt x="127000" y="19259637"/>
                  </a:cubicBezTo>
                  <a:lnTo>
                    <a:pt x="0" y="19158037"/>
                  </a:lnTo>
                  <a:lnTo>
                    <a:pt x="0" y="0"/>
                  </a:lnTo>
                  <a:lnTo>
                    <a:pt x="42888483" y="0"/>
                  </a:lnTo>
                  <a:lnTo>
                    <a:pt x="42888483" y="19158037"/>
                  </a:lnTo>
                  <a:lnTo>
                    <a:pt x="12700" y="19158037"/>
                  </a:lnTo>
                  <a:lnTo>
                    <a:pt x="12700" y="19145337"/>
                  </a:lnTo>
                  <a:lnTo>
                    <a:pt x="42875783" y="19145337"/>
                  </a:lnTo>
                  <a:lnTo>
                    <a:pt x="42875783" y="12700"/>
                  </a:lnTo>
                  <a:lnTo>
                    <a:pt x="12700" y="12700"/>
                  </a:lnTo>
                  <a:lnTo>
                    <a:pt x="12700" y="19158037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82677" y="-57149"/>
              <a:ext cx="40538867" cy="19215186"/>
            </a:xfrm>
            <a:prstGeom prst="rect">
              <a:avLst/>
            </a:prstGeom>
          </p:spPr>
          <p:txBody>
            <a:bodyPr lIns="103416" tIns="103416" rIns="103416" bIns="103416" rtlCol="0" anchor="t"/>
            <a:lstStyle/>
            <a:p>
              <a:pPr algn="l">
                <a:lnSpc>
                  <a:spcPts val="2090"/>
                </a:lnSpc>
              </a:pPr>
              <a:endParaRPr dirty="0"/>
            </a:p>
            <a:p>
              <a:pPr algn="l">
                <a:lnSpc>
                  <a:spcPts val="4381"/>
                </a:lnSpc>
              </a:pPr>
              <a:r>
                <a:rPr lang="en-US" sz="3129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</a:t>
              </a:r>
            </a:p>
            <a:p>
              <a:pPr algn="l">
                <a:lnSpc>
                  <a:spcPts val="4381"/>
                </a:lnSpc>
              </a:pPr>
              <a:endParaRPr lang="en-US" sz="312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>
                <a:lnSpc>
                  <a:spcPts val="4381"/>
                </a:lnSpc>
              </a:pPr>
              <a:r>
                <a:rPr lang="en-US" sz="2800" b="1" dirty="0">
                  <a:solidFill>
                    <a:srgbClr val="000000"/>
                  </a:solidFill>
                  <a:latin typeface="Canva Sans Bold" panose="020B0604020202020204" charset="0"/>
                  <a:ea typeface="Times New Roman MT"/>
                  <a:cs typeface="Times New Roman MT"/>
                  <a:sym typeface="Times New Roman MT"/>
                </a:rPr>
                <a:t>Impact: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Standardized personal computer operating systems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Made software development easier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Established Microsoft as a leader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sz="2800" dirty="0">
                <a:latin typeface="Times New Roman MT" panose="020B0604020202020204" charset="0"/>
              </a:endParaRPr>
            </a:p>
            <a:p>
              <a:r>
                <a:rPr lang="en-US" sz="2800" b="1" dirty="0">
                  <a:latin typeface="Canva Sans Bold" panose="020B0604020202020204" charset="0"/>
                </a:rPr>
                <a:t>Limitations: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No graphical interface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Difficult for beginners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Times New Roman MT" panose="020B0604020202020204" charset="0"/>
                </a:rPr>
                <a:t>Limited multitasking </a:t>
              </a:r>
            </a:p>
            <a:p>
              <a:pPr>
                <a:buFont typeface="Arial" panose="020B0604020202020204" pitchFamily="34" charset="0"/>
                <a:buChar char="•"/>
              </a:pPr>
              <a:endParaRPr lang="en-US" sz="2800" dirty="0">
                <a:latin typeface="Times New Roman MT" panose="020B0604020202020204" charset="0"/>
              </a:endParaRPr>
            </a:p>
            <a:p>
              <a:r>
                <a:rPr lang="en-US" sz="2800" dirty="0">
                  <a:latin typeface="Times New Roman MT" panose="020B0604020202020204" charset="0"/>
                </a:rPr>
                <a:t>These limitations led to the development of a more advanced system</a:t>
              </a:r>
            </a:p>
            <a:p>
              <a:pPr algn="l">
                <a:lnSpc>
                  <a:spcPts val="4900"/>
                </a:lnSpc>
              </a:pPr>
              <a:endParaRPr lang="en-US" sz="3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16343" y="455642"/>
            <a:ext cx="16630325" cy="1136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Contribution to Operating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1" y="2542886"/>
            <a:ext cx="16898090" cy="792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MS-DOS:</a:t>
            </a:r>
          </a:p>
        </p:txBody>
      </p:sp>
    </p:spTree>
    <p:extLst>
      <p:ext uri="{BB962C8B-B14F-4D97-AF65-F5344CB8AC3E}">
        <p14:creationId xmlns:p14="http://schemas.microsoft.com/office/powerpoint/2010/main" val="246289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66007" y="5317884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4465846"/>
                </a:moveTo>
                <a:lnTo>
                  <a:pt x="0" y="4465846"/>
                </a:lnTo>
                <a:lnTo>
                  <a:pt x="0" y="0"/>
                </a:lnTo>
                <a:lnTo>
                  <a:pt x="2703866" y="0"/>
                </a:lnTo>
                <a:lnTo>
                  <a:pt x="2703866" y="44658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65303" y="49450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0"/>
                </a:moveTo>
                <a:lnTo>
                  <a:pt x="2703866" y="0"/>
                </a:lnTo>
                <a:lnTo>
                  <a:pt x="2703866" y="4465845"/>
                </a:lnTo>
                <a:lnTo>
                  <a:pt x="0" y="44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983957"/>
            <a:ext cx="15685353" cy="7045743"/>
            <a:chOff x="0" y="-38099"/>
            <a:chExt cx="27739904" cy="13390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39904" cy="13250599"/>
            </a:xfrm>
            <a:custGeom>
              <a:avLst/>
              <a:gdLst/>
              <a:ahLst/>
              <a:cxnLst/>
              <a:rect l="l" t="t" r="r" b="b"/>
              <a:pathLst>
                <a:path w="27739904" h="13250599">
                  <a:moveTo>
                    <a:pt x="0" y="0"/>
                  </a:moveTo>
                  <a:lnTo>
                    <a:pt x="27739904" y="0"/>
                  </a:lnTo>
                  <a:lnTo>
                    <a:pt x="27739904" y="13250599"/>
                  </a:lnTo>
                  <a:lnTo>
                    <a:pt x="0" y="13250599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7739904" cy="13352199"/>
            </a:xfrm>
            <a:custGeom>
              <a:avLst/>
              <a:gdLst/>
              <a:ahLst/>
              <a:cxnLst/>
              <a:rect l="l" t="t" r="r" b="b"/>
              <a:pathLst>
                <a:path w="27739904" h="13352199">
                  <a:moveTo>
                    <a:pt x="0" y="13250599"/>
                  </a:moveTo>
                  <a:lnTo>
                    <a:pt x="27739904" y="13250599"/>
                  </a:lnTo>
                  <a:lnTo>
                    <a:pt x="27612904" y="13352199"/>
                  </a:lnTo>
                  <a:cubicBezTo>
                    <a:pt x="27612904" y="13352199"/>
                    <a:pt x="26622304" y="13275999"/>
                    <a:pt x="26520704" y="13275999"/>
                  </a:cubicBezTo>
                  <a:lnTo>
                    <a:pt x="1219200" y="13275999"/>
                  </a:lnTo>
                  <a:cubicBezTo>
                    <a:pt x="1117600" y="13275999"/>
                    <a:pt x="127000" y="13352199"/>
                    <a:pt x="127000" y="13352199"/>
                  </a:cubicBezTo>
                  <a:lnTo>
                    <a:pt x="0" y="13250599"/>
                  </a:lnTo>
                  <a:lnTo>
                    <a:pt x="0" y="0"/>
                  </a:lnTo>
                  <a:lnTo>
                    <a:pt x="27739904" y="0"/>
                  </a:lnTo>
                  <a:lnTo>
                    <a:pt x="27739904" y="13250599"/>
                  </a:lnTo>
                  <a:lnTo>
                    <a:pt x="12700" y="13250599"/>
                  </a:lnTo>
                  <a:lnTo>
                    <a:pt x="12700" y="13237899"/>
                  </a:lnTo>
                  <a:lnTo>
                    <a:pt x="27727204" y="13237899"/>
                  </a:lnTo>
                  <a:lnTo>
                    <a:pt x="27727204" y="12700"/>
                  </a:lnTo>
                  <a:lnTo>
                    <a:pt x="12700" y="12700"/>
                  </a:lnTo>
                  <a:lnTo>
                    <a:pt x="12700" y="1325059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099"/>
              <a:ext cx="27739904" cy="13250599"/>
            </a:xfrm>
            <a:prstGeom prst="rect">
              <a:avLst/>
            </a:prstGeom>
          </p:spPr>
          <p:txBody>
            <a:bodyPr lIns="153198" tIns="153198" rIns="153198" bIns="153198" rtlCol="0" anchor="t"/>
            <a:lstStyle/>
            <a:p>
              <a:pPr algn="l">
                <a:lnSpc>
                  <a:spcPts val="3097"/>
                </a:lnSpc>
              </a:pPr>
              <a:endParaRPr dirty="0"/>
            </a:p>
            <a:p>
              <a:pPr algn="l">
                <a:lnSpc>
                  <a:spcPts val="3097"/>
                </a:lnSpc>
              </a:pPr>
              <a:endParaRPr dirty="0"/>
            </a:p>
            <a:p>
              <a:pPr algn="l">
                <a:lnSpc>
                  <a:spcPts val="3097"/>
                </a:lnSpc>
              </a:pPr>
              <a:endParaRPr dirty="0"/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-Windows introduced a Graphical User Interface (GUI), replacing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command- based interaction.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- Use of mouse instead of typing commands and Multitasking capabilities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-Popular versions include: 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Windows 95 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Windows XP 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Windows 10 and 11</a:t>
              </a:r>
            </a:p>
            <a:p>
              <a:pPr algn="l">
                <a:lnSpc>
                  <a:spcPts val="49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-Windows made computers easier for beginners and non-technical users.</a:t>
              </a:r>
            </a:p>
            <a:p>
              <a:pPr algn="l">
                <a:lnSpc>
                  <a:spcPts val="6263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2126"/>
                </a:lnSpc>
              </a:pPr>
              <a:endParaRPr lang="en-US" sz="3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25176" y="361153"/>
            <a:ext cx="15685353" cy="1136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Contribution to Operating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1324" y="2243238"/>
            <a:ext cx="13405276" cy="81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1" lvl="1" algn="l">
              <a:lnSpc>
                <a:spcPts val="7000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Microsoft Windows: GUI Revolution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475509" y="414738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0"/>
                </a:moveTo>
                <a:lnTo>
                  <a:pt x="0" y="0"/>
                </a:lnTo>
                <a:lnTo>
                  <a:pt x="0" y="4465845"/>
                </a:lnTo>
                <a:lnTo>
                  <a:pt x="2703866" y="4465845"/>
                </a:lnTo>
                <a:lnTo>
                  <a:pt x="27038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5130309" y="542903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4465845"/>
                </a:moveTo>
                <a:lnTo>
                  <a:pt x="2703866" y="4465845"/>
                </a:lnTo>
                <a:lnTo>
                  <a:pt x="2703866" y="0"/>
                </a:lnTo>
                <a:lnTo>
                  <a:pt x="0" y="0"/>
                </a:lnTo>
                <a:lnTo>
                  <a:pt x="0" y="44658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60869" y="2019300"/>
            <a:ext cx="15685353" cy="7549916"/>
            <a:chOff x="0" y="0"/>
            <a:chExt cx="27739904" cy="133521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39904" cy="13250599"/>
            </a:xfrm>
            <a:custGeom>
              <a:avLst/>
              <a:gdLst/>
              <a:ahLst/>
              <a:cxnLst/>
              <a:rect l="l" t="t" r="r" b="b"/>
              <a:pathLst>
                <a:path w="27739904" h="13250599">
                  <a:moveTo>
                    <a:pt x="0" y="0"/>
                  </a:moveTo>
                  <a:lnTo>
                    <a:pt x="27739904" y="0"/>
                  </a:lnTo>
                  <a:lnTo>
                    <a:pt x="27739904" y="13250599"/>
                  </a:lnTo>
                  <a:lnTo>
                    <a:pt x="0" y="13250599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7739904" cy="13352199"/>
            </a:xfrm>
            <a:custGeom>
              <a:avLst/>
              <a:gdLst/>
              <a:ahLst/>
              <a:cxnLst/>
              <a:rect l="l" t="t" r="r" b="b"/>
              <a:pathLst>
                <a:path w="27739904" h="13352199">
                  <a:moveTo>
                    <a:pt x="0" y="13250599"/>
                  </a:moveTo>
                  <a:lnTo>
                    <a:pt x="27739904" y="13250599"/>
                  </a:lnTo>
                  <a:lnTo>
                    <a:pt x="27612904" y="13352199"/>
                  </a:lnTo>
                  <a:cubicBezTo>
                    <a:pt x="27612904" y="13352199"/>
                    <a:pt x="26622304" y="13275999"/>
                    <a:pt x="26520704" y="13275999"/>
                  </a:cubicBezTo>
                  <a:lnTo>
                    <a:pt x="1219200" y="13275999"/>
                  </a:lnTo>
                  <a:cubicBezTo>
                    <a:pt x="1117600" y="13275999"/>
                    <a:pt x="127000" y="13352199"/>
                    <a:pt x="127000" y="13352199"/>
                  </a:cubicBezTo>
                  <a:lnTo>
                    <a:pt x="0" y="13250599"/>
                  </a:lnTo>
                  <a:lnTo>
                    <a:pt x="0" y="0"/>
                  </a:lnTo>
                  <a:lnTo>
                    <a:pt x="27739904" y="0"/>
                  </a:lnTo>
                  <a:lnTo>
                    <a:pt x="27739904" y="13250599"/>
                  </a:lnTo>
                  <a:lnTo>
                    <a:pt x="12700" y="13250599"/>
                  </a:lnTo>
                  <a:lnTo>
                    <a:pt x="12700" y="13237899"/>
                  </a:lnTo>
                  <a:lnTo>
                    <a:pt x="27727204" y="13237899"/>
                  </a:lnTo>
                  <a:lnTo>
                    <a:pt x="27727204" y="12700"/>
                  </a:lnTo>
                  <a:lnTo>
                    <a:pt x="12700" y="12700"/>
                  </a:lnTo>
                  <a:lnTo>
                    <a:pt x="12700" y="1325059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739904" cy="13288699"/>
            </a:xfrm>
            <a:prstGeom prst="rect">
              <a:avLst/>
            </a:prstGeom>
          </p:spPr>
          <p:txBody>
            <a:bodyPr lIns="153198" tIns="153198" rIns="153198" bIns="153198" rtlCol="0" anchor="t"/>
            <a:lstStyle/>
            <a:p>
              <a:pPr algn="l">
                <a:lnSpc>
                  <a:spcPts val="3097"/>
                </a:lnSpc>
              </a:pPr>
              <a:endParaRPr/>
            </a:p>
            <a:p>
              <a:pPr algn="l">
                <a:lnSpc>
                  <a:spcPts val="6263"/>
                </a:lnSpc>
              </a:pPr>
              <a:endParaRPr/>
            </a:p>
            <a:p>
              <a:pPr algn="l">
                <a:lnSpc>
                  <a:spcPts val="212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0600" y="513552"/>
            <a:ext cx="17145000" cy="1180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Modern Operating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2968" y="2825014"/>
            <a:ext cx="15948614" cy="5741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6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Bill Gates’ contributions shaped modern OS design principles:</a:t>
            </a:r>
          </a:p>
          <a:p>
            <a:pPr marL="761963" lvl="1" indent="-380981" algn="l">
              <a:lnSpc>
                <a:spcPts val="49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Focuses on User-friendly interfaces (GUI)</a:t>
            </a:r>
          </a:p>
          <a:p>
            <a:pPr marL="761963" lvl="1" indent="-380981" algn="l">
              <a:lnSpc>
                <a:spcPts val="49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 for Multitasking and multi-user systems at once.</a:t>
            </a:r>
          </a:p>
          <a:p>
            <a:pPr marL="761963" lvl="1" indent="-380981" algn="l">
              <a:lnSpc>
                <a:spcPts val="49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Hardware abstraction layers</a:t>
            </a:r>
          </a:p>
          <a:p>
            <a:pPr marL="761963" lvl="1" indent="-380981" algn="l">
              <a:lnSpc>
                <a:spcPts val="49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Software compatibility ecosystems</a:t>
            </a:r>
          </a:p>
          <a:p>
            <a:pPr marL="761963" lvl="1" indent="-380981" algn="l">
              <a:lnSpc>
                <a:spcPts val="494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Regular updates and security patches</a:t>
            </a:r>
          </a:p>
          <a:p>
            <a:pPr algn="l">
              <a:lnSpc>
                <a:spcPts val="4940"/>
              </a:lnSpc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</a:p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Today,  Windows remains one of the most widely used operating systems in</a:t>
            </a:r>
          </a:p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the </a:t>
            </a:r>
            <a:r>
              <a:rPr lang="en-US" sz="28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world.Operating</a:t>
            </a: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systems like  Linux, and macOS follow these principles</a:t>
            </a:r>
            <a:r>
              <a:rPr lang="en-US" sz="352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66007" y="5317884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4465846"/>
                </a:moveTo>
                <a:lnTo>
                  <a:pt x="0" y="4465846"/>
                </a:lnTo>
                <a:lnTo>
                  <a:pt x="0" y="0"/>
                </a:lnTo>
                <a:lnTo>
                  <a:pt x="2703866" y="0"/>
                </a:lnTo>
                <a:lnTo>
                  <a:pt x="2703866" y="44658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65303" y="49450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0"/>
                </a:moveTo>
                <a:lnTo>
                  <a:pt x="2703866" y="0"/>
                </a:lnTo>
                <a:lnTo>
                  <a:pt x="2703866" y="4465845"/>
                </a:lnTo>
                <a:lnTo>
                  <a:pt x="0" y="446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74503" y="1866900"/>
            <a:ext cx="16384797" cy="7162801"/>
            <a:chOff x="0" y="0"/>
            <a:chExt cx="28976887" cy="11638083"/>
          </a:xfrm>
        </p:grpSpPr>
        <p:sp>
          <p:nvSpPr>
            <p:cNvPr id="6" name="Freeform 6"/>
            <p:cNvSpPr/>
            <p:nvPr/>
          </p:nvSpPr>
          <p:spPr>
            <a:xfrm>
              <a:off x="0" y="1485713"/>
              <a:ext cx="28704186" cy="8986049"/>
            </a:xfrm>
            <a:custGeom>
              <a:avLst/>
              <a:gdLst/>
              <a:ahLst/>
              <a:cxnLst/>
              <a:rect l="l" t="t" r="r" b="b"/>
              <a:pathLst>
                <a:path w="28704186" h="11536483">
                  <a:moveTo>
                    <a:pt x="0" y="0"/>
                  </a:moveTo>
                  <a:lnTo>
                    <a:pt x="28704186" y="0"/>
                  </a:lnTo>
                  <a:lnTo>
                    <a:pt x="28704186" y="11536483"/>
                  </a:lnTo>
                  <a:lnTo>
                    <a:pt x="0" y="11536483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8704186" cy="11638083"/>
            </a:xfrm>
            <a:custGeom>
              <a:avLst/>
              <a:gdLst/>
              <a:ahLst/>
              <a:cxnLst/>
              <a:rect l="l" t="t" r="r" b="b"/>
              <a:pathLst>
                <a:path w="28704186" h="11638083">
                  <a:moveTo>
                    <a:pt x="0" y="11536483"/>
                  </a:moveTo>
                  <a:lnTo>
                    <a:pt x="28704186" y="11536483"/>
                  </a:lnTo>
                  <a:lnTo>
                    <a:pt x="28577186" y="11638083"/>
                  </a:lnTo>
                  <a:cubicBezTo>
                    <a:pt x="28577186" y="11638083"/>
                    <a:pt x="27586586" y="11561883"/>
                    <a:pt x="27484986" y="11561883"/>
                  </a:cubicBezTo>
                  <a:lnTo>
                    <a:pt x="1219200" y="11561883"/>
                  </a:lnTo>
                  <a:cubicBezTo>
                    <a:pt x="1117600" y="11561883"/>
                    <a:pt x="127000" y="11638083"/>
                    <a:pt x="127000" y="11638083"/>
                  </a:cubicBezTo>
                  <a:lnTo>
                    <a:pt x="0" y="11536483"/>
                  </a:lnTo>
                  <a:lnTo>
                    <a:pt x="0" y="0"/>
                  </a:lnTo>
                  <a:lnTo>
                    <a:pt x="28704186" y="0"/>
                  </a:lnTo>
                  <a:lnTo>
                    <a:pt x="28704186" y="11536483"/>
                  </a:lnTo>
                  <a:lnTo>
                    <a:pt x="12700" y="11536483"/>
                  </a:lnTo>
                  <a:lnTo>
                    <a:pt x="12700" y="11523783"/>
                  </a:lnTo>
                  <a:lnTo>
                    <a:pt x="28691486" y="11523783"/>
                  </a:lnTo>
                  <a:lnTo>
                    <a:pt x="28691486" y="12700"/>
                  </a:lnTo>
                  <a:lnTo>
                    <a:pt x="12700" y="12700"/>
                  </a:lnTo>
                  <a:lnTo>
                    <a:pt x="12700" y="11536483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72701" y="0"/>
              <a:ext cx="28704186" cy="10471761"/>
            </a:xfrm>
            <a:prstGeom prst="rect">
              <a:avLst/>
            </a:prstGeom>
          </p:spPr>
          <p:txBody>
            <a:bodyPr lIns="153198" tIns="153198" rIns="153198" bIns="153198" rtlCol="0" anchor="t"/>
            <a:lstStyle/>
            <a:p>
              <a:pPr algn="l">
                <a:lnSpc>
                  <a:spcPts val="3097"/>
                </a:lnSpc>
              </a:pPr>
              <a:endParaRPr dirty="0"/>
            </a:p>
            <a:p>
              <a:pPr algn="l">
                <a:lnSpc>
                  <a:spcPts val="6263"/>
                </a:lnSpc>
              </a:pPr>
              <a:endParaRPr dirty="0"/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Apart from operating systems, Bill Gates also contributed to: 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- Software development tools 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- Office applications (like Word, Excel) </a:t>
              </a: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 -Personal computing revolution</a:t>
              </a:r>
            </a:p>
            <a:p>
              <a:pPr algn="l">
                <a:lnSpc>
                  <a:spcPts val="5040"/>
                </a:lnSpc>
              </a:pPr>
              <a:endPara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  <a:p>
              <a:pPr algn="l">
                <a:lnSpc>
                  <a:spcPts val="504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He later stepped down from Microsoft and focused on philanthropy through the Bill &amp; Melinda Gates Foundation.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6007" y="895350"/>
            <a:ext cx="10559193" cy="1226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719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Other Contributions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475509" y="414738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2703866" y="0"/>
                </a:moveTo>
                <a:lnTo>
                  <a:pt x="0" y="0"/>
                </a:lnTo>
                <a:lnTo>
                  <a:pt x="0" y="4465845"/>
                </a:lnTo>
                <a:lnTo>
                  <a:pt x="2703866" y="4465845"/>
                </a:lnTo>
                <a:lnTo>
                  <a:pt x="27038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5130309" y="5429033"/>
            <a:ext cx="2703866" cy="4465845"/>
          </a:xfrm>
          <a:custGeom>
            <a:avLst/>
            <a:gdLst/>
            <a:ahLst/>
            <a:cxnLst/>
            <a:rect l="l" t="t" r="r" b="b"/>
            <a:pathLst>
              <a:path w="2703866" h="4465845">
                <a:moveTo>
                  <a:pt x="0" y="4465845"/>
                </a:moveTo>
                <a:lnTo>
                  <a:pt x="2703866" y="4465845"/>
                </a:lnTo>
                <a:lnTo>
                  <a:pt x="2703866" y="0"/>
                </a:lnTo>
                <a:lnTo>
                  <a:pt x="0" y="0"/>
                </a:lnTo>
                <a:lnTo>
                  <a:pt x="0" y="44658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177332" flipH="1">
            <a:off x="994318" y="7475310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1666248" y="0"/>
                </a:moveTo>
                <a:lnTo>
                  <a:pt x="0" y="0"/>
                </a:lnTo>
                <a:lnTo>
                  <a:pt x="0" y="2574259"/>
                </a:lnTo>
                <a:lnTo>
                  <a:pt x="1666248" y="2574259"/>
                </a:lnTo>
                <a:lnTo>
                  <a:pt x="16662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60869" y="2960764"/>
            <a:ext cx="15865023" cy="4701191"/>
            <a:chOff x="0" y="0"/>
            <a:chExt cx="29156821" cy="122591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156822" cy="12157549"/>
            </a:xfrm>
            <a:custGeom>
              <a:avLst/>
              <a:gdLst/>
              <a:ahLst/>
              <a:cxnLst/>
              <a:rect l="l" t="t" r="r" b="b"/>
              <a:pathLst>
                <a:path w="29156822" h="12157549">
                  <a:moveTo>
                    <a:pt x="0" y="0"/>
                  </a:moveTo>
                  <a:lnTo>
                    <a:pt x="29156822" y="0"/>
                  </a:lnTo>
                  <a:lnTo>
                    <a:pt x="29156822" y="12157549"/>
                  </a:lnTo>
                  <a:lnTo>
                    <a:pt x="0" y="12157549"/>
                  </a:lnTo>
                  <a:close/>
                </a:path>
              </a:pathLst>
            </a:custGeom>
            <a:solidFill>
              <a:srgbClr val="DBD5D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29156822" cy="12259149"/>
            </a:xfrm>
            <a:custGeom>
              <a:avLst/>
              <a:gdLst/>
              <a:ahLst/>
              <a:cxnLst/>
              <a:rect l="l" t="t" r="r" b="b"/>
              <a:pathLst>
                <a:path w="29156822" h="12259149">
                  <a:moveTo>
                    <a:pt x="0" y="12157549"/>
                  </a:moveTo>
                  <a:lnTo>
                    <a:pt x="29156822" y="12157549"/>
                  </a:lnTo>
                  <a:lnTo>
                    <a:pt x="29029822" y="12259149"/>
                  </a:lnTo>
                  <a:cubicBezTo>
                    <a:pt x="29029822" y="12259149"/>
                    <a:pt x="28039222" y="12182949"/>
                    <a:pt x="27937622" y="12182949"/>
                  </a:cubicBezTo>
                  <a:lnTo>
                    <a:pt x="1219200" y="12182949"/>
                  </a:lnTo>
                  <a:cubicBezTo>
                    <a:pt x="1117600" y="12182949"/>
                    <a:pt x="127000" y="12259149"/>
                    <a:pt x="127000" y="12259149"/>
                  </a:cubicBezTo>
                  <a:lnTo>
                    <a:pt x="0" y="12157549"/>
                  </a:lnTo>
                  <a:lnTo>
                    <a:pt x="0" y="0"/>
                  </a:lnTo>
                  <a:lnTo>
                    <a:pt x="29156822" y="0"/>
                  </a:lnTo>
                  <a:lnTo>
                    <a:pt x="29156822" y="12157549"/>
                  </a:lnTo>
                  <a:lnTo>
                    <a:pt x="12700" y="12157549"/>
                  </a:lnTo>
                  <a:lnTo>
                    <a:pt x="12700" y="12144849"/>
                  </a:lnTo>
                  <a:lnTo>
                    <a:pt x="29144122" y="12144849"/>
                  </a:lnTo>
                  <a:lnTo>
                    <a:pt x="29144122" y="12700"/>
                  </a:lnTo>
                  <a:lnTo>
                    <a:pt x="12700" y="12700"/>
                  </a:lnTo>
                  <a:lnTo>
                    <a:pt x="12700" y="12157549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156821" cy="12195649"/>
            </a:xfrm>
            <a:prstGeom prst="rect">
              <a:avLst/>
            </a:prstGeom>
          </p:spPr>
          <p:txBody>
            <a:bodyPr lIns="147422" tIns="147422" rIns="147422" bIns="147422" rtlCol="0" anchor="t"/>
            <a:lstStyle/>
            <a:p>
              <a:pPr algn="l">
                <a:lnSpc>
                  <a:spcPts val="2980"/>
                </a:lnSpc>
              </a:pPr>
              <a:endParaRPr/>
            </a:p>
            <a:p>
              <a:pPr algn="l">
                <a:lnSpc>
                  <a:spcPts val="6026"/>
                </a:lnSpc>
              </a:pPr>
              <a:endParaRPr/>
            </a:p>
            <a:p>
              <a:pPr algn="l">
                <a:lnSpc>
                  <a:spcPts val="2046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80642" y="1477596"/>
            <a:ext cx="5015151" cy="11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73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2107" y="3154397"/>
            <a:ext cx="15158673" cy="5805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1352" lvl="1" indent="-380676">
              <a:lnSpc>
                <a:spcPts val="4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Bill Gates played a crucial role in the development of operating systems. </a:t>
            </a:r>
          </a:p>
          <a:p>
            <a:pPr marL="761352" lvl="1" indent="-380676" algn="l">
              <a:lnSpc>
                <a:spcPts val="4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 transformed operating systems from complex tools into user-friendly platforms</a:t>
            </a:r>
          </a:p>
          <a:p>
            <a:pPr marL="761352" lvl="1" indent="-380676" algn="l">
              <a:lnSpc>
                <a:spcPts val="493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MS-DOS and Windows transformed how humans interact with computers </a:t>
            </a:r>
          </a:p>
          <a:p>
            <a:pPr marL="761352" lvl="1" indent="-380676" algn="l">
              <a:lnSpc>
                <a:spcPts val="4936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His work made computing accessible to billions of people worldwide.</a:t>
            </a:r>
          </a:p>
          <a:p>
            <a:pPr marL="761352" lvl="1" indent="-380676" algn="l">
              <a:lnSpc>
                <a:spcPts val="4936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Without his contributions, modern operating systems might not be as advanced or user-friendly as they are today. </a:t>
            </a:r>
          </a:p>
          <a:p>
            <a:pPr marL="380676" lvl="1" algn="l">
              <a:lnSpc>
                <a:spcPts val="4936"/>
              </a:lnSpc>
            </a:pPr>
            <a:endParaRPr lang="en-US" sz="28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2094"/>
              </a:lnSpc>
              <a:spcBef>
                <a:spcPct val="0"/>
              </a:spcBef>
            </a:pPr>
            <a:endParaRPr lang="en-US" sz="352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2094"/>
              </a:lnSpc>
              <a:spcBef>
                <a:spcPct val="0"/>
              </a:spcBef>
            </a:pPr>
            <a:endParaRPr lang="en-US" sz="352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2094"/>
              </a:lnSpc>
              <a:spcBef>
                <a:spcPct val="0"/>
              </a:spcBef>
            </a:pPr>
            <a:endParaRPr lang="en-US" sz="352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2094"/>
              </a:lnSpc>
              <a:spcBef>
                <a:spcPct val="0"/>
              </a:spcBef>
            </a:pPr>
            <a:endParaRPr lang="en-US" sz="352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2094"/>
              </a:lnSpc>
              <a:spcBef>
                <a:spcPct val="0"/>
              </a:spcBef>
            </a:pPr>
            <a:endParaRPr lang="en-US" sz="3526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11" b="-8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01505" y="3451416"/>
            <a:ext cx="11635257" cy="3384168"/>
          </a:xfrm>
          <a:custGeom>
            <a:avLst/>
            <a:gdLst/>
            <a:ahLst/>
            <a:cxnLst/>
            <a:rect l="l" t="t" r="r" b="b"/>
            <a:pathLst>
              <a:path w="11635257" h="3384168">
                <a:moveTo>
                  <a:pt x="0" y="0"/>
                </a:moveTo>
                <a:lnTo>
                  <a:pt x="11635257" y="0"/>
                </a:lnTo>
                <a:lnTo>
                  <a:pt x="11635257" y="3384168"/>
                </a:lnTo>
                <a:lnTo>
                  <a:pt x="0" y="3384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86200" y="4305300"/>
            <a:ext cx="10182042" cy="1630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29"/>
              </a:lnSpc>
            </a:pPr>
            <a:r>
              <a:rPr lang="en-US" sz="11873" dirty="0">
                <a:solidFill>
                  <a:srgbClr val="2B2322"/>
                </a:solidFill>
                <a:latin typeface="Foda Display"/>
                <a:ea typeface="Foda Display"/>
                <a:cs typeface="Foda Display"/>
                <a:sym typeface="Foda Display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350032" y="221277"/>
            <a:ext cx="3498935" cy="5779022"/>
          </a:xfrm>
          <a:custGeom>
            <a:avLst/>
            <a:gdLst/>
            <a:ahLst/>
            <a:cxnLst/>
            <a:rect l="l" t="t" r="r" b="b"/>
            <a:pathLst>
              <a:path w="3498935" h="5779022">
                <a:moveTo>
                  <a:pt x="3498935" y="0"/>
                </a:moveTo>
                <a:lnTo>
                  <a:pt x="0" y="0"/>
                </a:lnTo>
                <a:lnTo>
                  <a:pt x="0" y="5779022"/>
                </a:lnTo>
                <a:lnTo>
                  <a:pt x="3498935" y="5779022"/>
                </a:lnTo>
                <a:lnTo>
                  <a:pt x="34989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3824776" y="4298906"/>
            <a:ext cx="3031656" cy="5007240"/>
          </a:xfrm>
          <a:custGeom>
            <a:avLst/>
            <a:gdLst/>
            <a:ahLst/>
            <a:cxnLst/>
            <a:rect l="l" t="t" r="r" b="b"/>
            <a:pathLst>
              <a:path w="3031656" h="5007240">
                <a:moveTo>
                  <a:pt x="3031656" y="0"/>
                </a:moveTo>
                <a:lnTo>
                  <a:pt x="0" y="0"/>
                </a:lnTo>
                <a:lnTo>
                  <a:pt x="0" y="5007240"/>
                </a:lnTo>
                <a:lnTo>
                  <a:pt x="3031656" y="5007240"/>
                </a:lnTo>
                <a:lnTo>
                  <a:pt x="303165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 rot="-5983905">
            <a:off x="195576" y="8456697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0" y="0"/>
                </a:moveTo>
                <a:lnTo>
                  <a:pt x="1666248" y="0"/>
                </a:lnTo>
                <a:lnTo>
                  <a:pt x="1666248" y="2574259"/>
                </a:lnTo>
                <a:lnTo>
                  <a:pt x="0" y="2574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177332" flipH="1" flipV="1">
            <a:off x="16293115" y="-519631"/>
            <a:ext cx="1666248" cy="2574259"/>
          </a:xfrm>
          <a:custGeom>
            <a:avLst/>
            <a:gdLst/>
            <a:ahLst/>
            <a:cxnLst/>
            <a:rect l="l" t="t" r="r" b="b"/>
            <a:pathLst>
              <a:path w="1666248" h="2574259">
                <a:moveTo>
                  <a:pt x="1666248" y="2574259"/>
                </a:moveTo>
                <a:lnTo>
                  <a:pt x="0" y="2574259"/>
                </a:lnTo>
                <a:lnTo>
                  <a:pt x="0" y="0"/>
                </a:lnTo>
                <a:lnTo>
                  <a:pt x="1666248" y="0"/>
                </a:lnTo>
                <a:lnTo>
                  <a:pt x="1666248" y="2574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643</Words>
  <Application>Microsoft Office PowerPoint</Application>
  <PresentationFormat>Custom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Archivo Black</vt:lpstr>
      <vt:lpstr>Poppins Semi-Bold</vt:lpstr>
      <vt:lpstr>Calibri</vt:lpstr>
      <vt:lpstr>Times New Roman MT Bold</vt:lpstr>
      <vt:lpstr>Times New Roman</vt:lpstr>
      <vt:lpstr>Foda Display</vt:lpstr>
      <vt:lpstr>Canva Sans Bold</vt:lpstr>
      <vt:lpstr>Arial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</dc:title>
  <cp:lastModifiedBy>Saiba Khan</cp:lastModifiedBy>
  <cp:revision>8</cp:revision>
  <dcterms:created xsi:type="dcterms:W3CDTF">2006-08-16T00:00:00Z</dcterms:created>
  <dcterms:modified xsi:type="dcterms:W3CDTF">2026-04-26T12:30:19Z</dcterms:modified>
  <dc:identifier>DAHHohLdP1I</dc:identifier>
</cp:coreProperties>
</file>